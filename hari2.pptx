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6" roundtripDataSignature="AMtx7mjOmE3l0vLLt+uYOyrHw1mrzgBb+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bce8873b51_0_1052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g3bce8873b51_0_1052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g3bce8873b51_0_105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bce8873b51_0_1056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g3bce8873b51_0_105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3bce8873b51_0_105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g3bce8873b51_0_105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g3bce8873b51_0_105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bce8873b51_0_106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g3bce8873b51_0_1063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g3bce8873b51_0_1063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g3bce8873b51_0_106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bce8873b51_0_106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g3bce8873b51_0_106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bce8873b51_0_1071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g3bce8873b51_0_1071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g3bce8873b51_0_107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bce8873b51_0_1075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g3bce8873b51_0_107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bce8873b51_0_1078"/>
          <p:cNvSpPr/>
          <p:nvPr/>
        </p:nvSpPr>
        <p:spPr>
          <a:xfrm>
            <a:off x="4572000" y="33"/>
            <a:ext cx="457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g3bce8873b51_0_1078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g3bce8873b51_0_1078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g3bce8873b51_0_1078"/>
          <p:cNvSpPr txBox="1"/>
          <p:nvPr>
            <p:ph idx="2" type="body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g3bce8873b51_0_107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bce8873b51_0_1084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g3bce8873b51_0_108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bce8873b51_0_1087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g3bce8873b51_0_1087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g3bce8873b51_0_108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bce8873b51_0_109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ce8873b51_0_109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g3bce8873b51_0_109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53" name="Google Shape;53;g3bce8873b51_0_109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g3bce8873b51_0_109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g3bce8873b51_0_109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bce8873b51_0_104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g3bce8873b51_0_104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g3bce8873b51_0_104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>
    <mc:Choice Requires="p14">
      <p:transition spd="slow" p14:dur="2500">
        <p14:gallery dir="l"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Logika Pemrograman 🧠💻</a:t>
            </a:r>
            <a:endParaRPr sz="5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Hari Kedua</a:t>
            </a:r>
            <a:endParaRPr sz="5600"/>
          </a:p>
        </p:txBody>
      </p:sp>
      <p:sp>
        <p:nvSpPr>
          <p:cNvPr id="61" name="Google Shape;61;p1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 sz="3100">
                <a:solidFill>
                  <a:srgbClr val="888888"/>
                </a:solidFill>
              </a:rPr>
              <a:t>Belajar berpikir runtut dan logis</a:t>
            </a:r>
            <a:endParaRPr sz="3100"/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 sz="3100">
                <a:solidFill>
                  <a:srgbClr val="888888"/>
                </a:solidFill>
              </a:rPr>
              <a:t>Untuk Siswa SMP</a:t>
            </a:r>
            <a:endParaRPr sz="3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Apa itu Pemrograman? </a:t>
            </a:r>
            <a:endParaRPr/>
          </a:p>
        </p:txBody>
      </p:sp>
      <p:sp>
        <p:nvSpPr>
          <p:cNvPr id="67" name="Google Shape;67;p2"/>
          <p:cNvSpPr txBox="1"/>
          <p:nvPr>
            <p:ph idx="1" type="body"/>
          </p:nvPr>
        </p:nvSpPr>
        <p:spPr>
          <a:xfrm>
            <a:off x="457200" y="1616300"/>
            <a:ext cx="5241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/>
          </a:bodyPr>
          <a:lstStyle/>
          <a:p>
            <a:pPr indent="-368935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2600"/>
              <a:t>Pemrograman adalah cara manusia memberi perintah kepada komputer.</a:t>
            </a:r>
            <a:endParaRPr sz="2600"/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-368935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2600"/>
              <a:t>Perintah ini ditulis dengan aturan tertentu agar komputer bisa memahaminya.</a:t>
            </a:r>
            <a:endParaRPr sz="2600"/>
          </a:p>
          <a:p>
            <a:pPr indent="0" lvl="0" marL="3429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0" lvl="0" marL="3429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-368935" lvl="0" marL="342900" rtl="0" algn="l">
              <a:spcBef>
                <a:spcPts val="360"/>
              </a:spcBef>
              <a:spcAft>
                <a:spcPts val="1200"/>
              </a:spcAft>
              <a:buClr>
                <a:schemeClr val="dk1"/>
              </a:buClr>
              <a:buSzPct val="100000"/>
              <a:buChar char="●"/>
            </a:pPr>
            <a:r>
              <a:rPr lang="en-US" sz="2600"/>
              <a:t>Komputer akan menjalankan perintah sesuai urutan yang kita berikan.</a:t>
            </a:r>
            <a:endParaRPr sz="2600"/>
          </a:p>
        </p:txBody>
      </p:sp>
      <p:sp>
        <p:nvSpPr>
          <p:cNvPr id="68" name="Google Shape;68;p2"/>
          <p:cNvSpPr txBox="1"/>
          <p:nvPr/>
        </p:nvSpPr>
        <p:spPr>
          <a:xfrm>
            <a:off x="5843700" y="2366500"/>
            <a:ext cx="29880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15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💻</a:t>
            </a:r>
            <a:endParaRPr sz="156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Apa itu Logika? </a:t>
            </a:r>
            <a:endParaRPr/>
          </a:p>
        </p:txBody>
      </p:sp>
      <p:sp>
        <p:nvSpPr>
          <p:cNvPr id="74" name="Google Shape;74;p3"/>
          <p:cNvSpPr txBox="1"/>
          <p:nvPr>
            <p:ph idx="1" type="body"/>
          </p:nvPr>
        </p:nvSpPr>
        <p:spPr>
          <a:xfrm>
            <a:off x="2817250" y="1600200"/>
            <a:ext cx="58695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93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lang="en-US" sz="2600"/>
              <a:t>Logika adalah cara berpikir yang masuk akal dan teratur.</a:t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-3937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lang="en-US" sz="2600"/>
              <a:t>Logika membantu kita menentukan langkah yang benar.</a:t>
            </a:r>
            <a:endParaRPr sz="26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-393700" lvl="0" marL="342900" rtl="0" algn="l">
              <a:spcBef>
                <a:spcPts val="360"/>
              </a:spcBef>
              <a:spcAft>
                <a:spcPts val="1200"/>
              </a:spcAft>
              <a:buClr>
                <a:schemeClr val="dk1"/>
              </a:buClr>
              <a:buSzPts val="2600"/>
              <a:buChar char="●"/>
            </a:pPr>
            <a:r>
              <a:rPr lang="en-US" sz="2600"/>
              <a:t>Komputer sangat bergantung pada logika yang kita buat.</a:t>
            </a:r>
            <a:endParaRPr sz="2600"/>
          </a:p>
        </p:txBody>
      </p:sp>
      <p:sp>
        <p:nvSpPr>
          <p:cNvPr id="75" name="Google Shape;75;p3"/>
          <p:cNvSpPr txBox="1"/>
          <p:nvPr/>
        </p:nvSpPr>
        <p:spPr>
          <a:xfrm>
            <a:off x="-2962175" y="1709750"/>
            <a:ext cx="87255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15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sz="154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Kenapa Logika Penting dalam Pemrograman? </a:t>
            </a:r>
            <a:endParaRPr/>
          </a:p>
        </p:txBody>
      </p:sp>
      <p:sp>
        <p:nvSpPr>
          <p:cNvPr id="81" name="Google Shape;81;p4"/>
          <p:cNvSpPr txBox="1"/>
          <p:nvPr>
            <p:ph idx="1" type="body"/>
          </p:nvPr>
        </p:nvSpPr>
        <p:spPr>
          <a:xfrm>
            <a:off x="457200" y="1600200"/>
            <a:ext cx="55959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93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lang="en-US" sz="2600"/>
              <a:t>Komputer tidak bisa menebak apa yang kita maksud.</a:t>
            </a:r>
            <a:endParaRPr sz="2600"/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-3937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lang="en-US" sz="2600"/>
              <a:t>Jika logikanya salah, hasil program juga akan salah.</a:t>
            </a:r>
            <a:endParaRPr sz="26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-393700" lvl="0" marL="34290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600"/>
              <a:buChar char="●"/>
            </a:pPr>
            <a:r>
              <a:rPr lang="en-US" sz="2600"/>
              <a:t>Logika yang baik membuat program berjalan dengan benar.</a:t>
            </a:r>
            <a:endParaRPr sz="2600"/>
          </a:p>
        </p:txBody>
      </p:sp>
      <p:sp>
        <p:nvSpPr>
          <p:cNvPr id="82" name="Google Shape;82;p4"/>
          <p:cNvSpPr txBox="1"/>
          <p:nvPr/>
        </p:nvSpPr>
        <p:spPr>
          <a:xfrm>
            <a:off x="6197950" y="2662650"/>
            <a:ext cx="26886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1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⭐</a:t>
            </a:r>
            <a:endParaRPr sz="144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Contoh Logika Sehari-hari </a:t>
            </a:r>
            <a:endParaRPr/>
          </a:p>
        </p:txBody>
      </p:sp>
      <p:sp>
        <p:nvSpPr>
          <p:cNvPr id="88" name="Google Shape;88;p5"/>
          <p:cNvSpPr txBox="1"/>
          <p:nvPr>
            <p:ph idx="1" type="body"/>
          </p:nvPr>
        </p:nvSpPr>
        <p:spPr>
          <a:xfrm>
            <a:off x="457200" y="3606075"/>
            <a:ext cx="8229600" cy="28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94017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-US" sz="2816"/>
              <a:t>Bangun tidur → mandi → sarapan → berangkat sekolah.</a:t>
            </a:r>
            <a:endParaRPr b="1" sz="2816"/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-381317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2600"/>
              <a:t>Semua kegiatan dilakukan secara berurutan.</a:t>
            </a:r>
            <a:endParaRPr sz="2600"/>
          </a:p>
          <a:p>
            <a:pPr indent="0" lvl="0" marL="3429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-381317" lvl="0" marL="342900" rtl="0" algn="l">
              <a:spcBef>
                <a:spcPts val="360"/>
              </a:spcBef>
              <a:spcAft>
                <a:spcPts val="1200"/>
              </a:spcAft>
              <a:buClr>
                <a:schemeClr val="dk1"/>
              </a:buClr>
              <a:buSzPct val="100000"/>
              <a:buChar char="●"/>
            </a:pPr>
            <a:r>
              <a:rPr lang="en-US" sz="2600"/>
              <a:t>Jika urutan salah, kegiatan bisa jadi tidak berjalan dengan baik.</a:t>
            </a:r>
            <a:endParaRPr sz="2600"/>
          </a:p>
        </p:txBody>
      </p:sp>
      <p:sp>
        <p:nvSpPr>
          <p:cNvPr id="89" name="Google Shape;89;p5"/>
          <p:cNvSpPr txBox="1"/>
          <p:nvPr/>
        </p:nvSpPr>
        <p:spPr>
          <a:xfrm>
            <a:off x="2125025" y="1204875"/>
            <a:ext cx="52161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1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🏠</a:t>
            </a:r>
            <a:endParaRPr sz="144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Konsep Dasar Logika Pemrograman </a:t>
            </a:r>
            <a:endParaRPr/>
          </a:p>
        </p:txBody>
      </p:sp>
      <p:sp>
        <p:nvSpPr>
          <p:cNvPr id="95" name="Google Shape;95;p6"/>
          <p:cNvSpPr txBox="1"/>
          <p:nvPr>
            <p:ph idx="1" type="body"/>
          </p:nvPr>
        </p:nvSpPr>
        <p:spPr>
          <a:xfrm>
            <a:off x="457200" y="1600200"/>
            <a:ext cx="58212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005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●"/>
            </a:pPr>
            <a:r>
              <a:rPr lang="en-US" sz="2700"/>
              <a:t>1️⃣ Urutan (Sequence): langkah dilakukan satu per satu.</a:t>
            </a:r>
            <a:endParaRPr sz="2700"/>
          </a:p>
          <a:p>
            <a:pPr indent="-40005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00"/>
              <a:buChar char="●"/>
            </a:pPr>
            <a:r>
              <a:rPr lang="en-US" sz="2700"/>
              <a:t>2️⃣ Percabangan (If / Jika): memilih berdasarkan kondisi.</a:t>
            </a:r>
            <a:endParaRPr sz="2700"/>
          </a:p>
          <a:p>
            <a:pPr indent="-400050" lvl="0" marL="342900" rtl="0" algn="l">
              <a:spcBef>
                <a:spcPts val="360"/>
              </a:spcBef>
              <a:spcAft>
                <a:spcPts val="1200"/>
              </a:spcAft>
              <a:buClr>
                <a:schemeClr val="dk1"/>
              </a:buClr>
              <a:buSzPts val="2700"/>
              <a:buChar char="●"/>
            </a:pPr>
            <a:r>
              <a:rPr lang="en-US" sz="2700"/>
              <a:t>3️⃣ Perulangan (Loop): mengulang perintah yang sama.</a:t>
            </a:r>
            <a:endParaRPr sz="2700"/>
          </a:p>
        </p:txBody>
      </p:sp>
      <p:sp>
        <p:nvSpPr>
          <p:cNvPr id="96" name="Google Shape;96;p6"/>
          <p:cNvSpPr txBox="1"/>
          <p:nvPr/>
        </p:nvSpPr>
        <p:spPr>
          <a:xfrm>
            <a:off x="5280275" y="3791950"/>
            <a:ext cx="40086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16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🔑</a:t>
            </a:r>
            <a:endParaRPr sz="160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Contoh Percabangan (If) </a:t>
            </a:r>
            <a:endParaRPr/>
          </a:p>
        </p:txBody>
      </p:sp>
      <p:sp>
        <p:nvSpPr>
          <p:cNvPr id="102" name="Google Shape;102;p7"/>
          <p:cNvSpPr txBox="1"/>
          <p:nvPr>
            <p:ph idx="1" type="body"/>
          </p:nvPr>
        </p:nvSpPr>
        <p:spPr>
          <a:xfrm>
            <a:off x="370200" y="1600200"/>
            <a:ext cx="8773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93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b="1" lang="en-US" sz="2600"/>
              <a:t>Jika hujan 				→ membawa payung.</a:t>
            </a:r>
            <a:endParaRPr b="1" sz="2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</a:t>
            </a:r>
            <a:r>
              <a:rPr b="1" lang="en-US" sz="1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🔀</a:t>
            </a:r>
            <a:endParaRPr b="1" sz="15000"/>
          </a:p>
          <a:p>
            <a:pPr indent="-3937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b="1" lang="en-US" sz="2600"/>
              <a:t>Jika tidak hujan 			→ tidak membawa payung.</a:t>
            </a:r>
            <a:endParaRPr b="1" sz="2600"/>
          </a:p>
          <a:p>
            <a:pPr indent="0" lvl="0" marL="3429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-393700" lvl="0" marL="342900" rtl="0" algn="l">
              <a:spcBef>
                <a:spcPts val="360"/>
              </a:spcBef>
              <a:spcAft>
                <a:spcPts val="1200"/>
              </a:spcAft>
              <a:buClr>
                <a:schemeClr val="dk1"/>
              </a:buClr>
              <a:buSzPts val="2600"/>
              <a:buChar char="●"/>
            </a:pPr>
            <a:r>
              <a:rPr lang="en-US" sz="2600"/>
              <a:t>Komputer bekerja berdasarkan kondisi yang kita tentukan.</a:t>
            </a:r>
            <a:endParaRPr sz="2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Contoh Perulangan (Loop) </a:t>
            </a:r>
            <a:endParaRPr/>
          </a:p>
        </p:txBody>
      </p:sp>
      <p:sp>
        <p:nvSpPr>
          <p:cNvPr id="108" name="Google Shape;108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93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lang="en-US" sz="2600"/>
              <a:t>Menyapu lantai sampai bersih.</a:t>
            </a:r>
            <a:endParaRPr sz="2600"/>
          </a:p>
          <a:p>
            <a:pPr indent="-3937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lang="en-US" sz="2600"/>
              <a:t>Mengulang langkah yang sama beberapa kali.</a:t>
            </a:r>
            <a:endParaRPr sz="2600"/>
          </a:p>
          <a:p>
            <a:pPr indent="-3937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lang="en-US" sz="2600"/>
              <a:t>Loop membantu kita menghemat penulisan perintah.</a:t>
            </a:r>
            <a:endParaRPr sz="2600"/>
          </a:p>
          <a:p>
            <a:pPr indent="0" lvl="0" marL="34290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🔁</a:t>
            </a:r>
            <a:endParaRPr sz="14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Kesimpulan 🎉</a:t>
            </a:r>
            <a:endParaRPr/>
          </a:p>
        </p:txBody>
      </p:sp>
      <p:sp>
        <p:nvSpPr>
          <p:cNvPr id="114" name="Google Shape;114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93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lang="en-US" sz="2600"/>
              <a:t>Logika pemrograman adalah dasar dari semua program.</a:t>
            </a:r>
            <a:endParaRPr sz="2600"/>
          </a:p>
          <a:p>
            <a:pPr indent="-3937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lang="en-US" sz="2600"/>
              <a:t>Belajar logika berarti belajar berpikir runtut dan jelas.</a:t>
            </a:r>
            <a:endParaRPr sz="2600"/>
          </a:p>
          <a:p>
            <a:pPr indent="-393700" lvl="0" marL="342900" rtl="0" algn="l">
              <a:spcBef>
                <a:spcPts val="360"/>
              </a:spcBef>
              <a:spcAft>
                <a:spcPts val="1200"/>
              </a:spcAft>
              <a:buClr>
                <a:schemeClr val="dk1"/>
              </a:buClr>
              <a:buSzPts val="2600"/>
              <a:buChar char="●"/>
            </a:pPr>
            <a:r>
              <a:rPr lang="en-US" sz="2600"/>
              <a:t>Di pertemuan selanjutnya, kita akan mulai praktik!</a:t>
            </a:r>
            <a:endParaRPr sz="2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Latihan Soal ✍️</a:t>
            </a:r>
            <a:endParaRPr/>
          </a:p>
        </p:txBody>
      </p:sp>
      <p:sp>
        <p:nvSpPr>
          <p:cNvPr id="120" name="Google Shape;120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81317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US" sz="2600"/>
              <a:t>buka </a:t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00FFFF"/>
                </a:solidFill>
              </a:rPr>
              <a:t>nusabit.com/pemrograman</a:t>
            </a:r>
            <a:endParaRPr b="1" sz="3300">
              <a:solidFill>
                <a:srgbClr val="00FFFF"/>
              </a:solidFill>
            </a:endParaRPr>
          </a:p>
          <a:p>
            <a:pPr indent="-381317" lvl="0" marL="457200" rtl="0" algn="l">
              <a:spcBef>
                <a:spcPts val="360"/>
              </a:spcBef>
              <a:spcAft>
                <a:spcPts val="0"/>
              </a:spcAft>
              <a:buSzPct val="100000"/>
              <a:buAutoNum type="arabicPeriod"/>
            </a:pPr>
            <a:r>
              <a:rPr lang="en-US" sz="2600"/>
              <a:t>Register</a:t>
            </a:r>
            <a:endParaRPr sz="2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600"/>
              <a:t>Menggunakan username dan password jika sudah mendaftar.</a:t>
            </a:r>
            <a:endParaRPr sz="2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600"/>
              <a:t>username = gunakan </a:t>
            </a:r>
            <a:r>
              <a:rPr b="1" lang="en-US" sz="2600"/>
              <a:t>nama panggilan+angka</a:t>
            </a:r>
            <a:r>
              <a:rPr lang="en-US" sz="2600"/>
              <a:t> misal budi202</a:t>
            </a:r>
            <a:endParaRPr sz="2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600"/>
              <a:t>password = disini gunakan </a:t>
            </a:r>
            <a:r>
              <a:rPr b="1" lang="en-US" sz="2600"/>
              <a:t>tanggal lahir</a:t>
            </a:r>
            <a:r>
              <a:rPr lang="en-US" sz="2600"/>
              <a:t> misal (04022026)</a:t>
            </a:r>
            <a:endParaRPr sz="2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